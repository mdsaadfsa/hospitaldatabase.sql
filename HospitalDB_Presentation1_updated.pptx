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5929ef-d83f-736b-178a-f7e22fca8fe8}">
          <p14:sldIdLst>
            <p14:sldId id="256"/>
            <p14:sldId id="257"/>
          </p14:sldIdLst>
        </p14:section>
        <p14:section name="Design" id="{0e1d2726-d0b9-79f7-ba43-e768da092280}">
          <p14:sldIdLst>
            <p14:sldId id="258"/>
            <p14:sldId id="259"/>
          </p14:sldIdLst>
        </p14:section>
        <p14:section name="Queries" id="{ac046e98-373c-0d90-9948-0b37aa584d35}">
          <p14:sldIdLst>
            <p14:sldId id="260"/>
            <p14:sldId id="261"/>
            <p14:sldId id="262"/>
            <p14:sldId id="263"/>
          </p14:sldIdLst>
        </p14:section>
        <p14:section name="Insights" id="{0265a91c-7de1-1aa3-9d14-f269aa4140f8}">
          <p14:sldIdLst>
            <p14:sldId id="264"/>
            <p14:sldId id="265"/>
          </p14:sldIdLst>
        </p14:section>
        <p14:section name="Wrap-up" id="{ea2fbbbe-3b16-bec3-f795-e0677655179a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A33"/>
                </a:solidFill>
                <a:latin typeface="+mn-lt"/>
              </a:rPr>
              <a:t>Revenue by doctor (₹, completed visits)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Dr. Amit Sharma</c:v>
                  </c:pt>
                  <c:pt idx="1">
                    <c:v>Dr. Karan Mehta</c:v>
                  </c:pt>
                  <c:pt idx="2">
                    <c:v>Dr. Pooja Nair</c:v>
                  </c:pt>
                  <c:pt idx="3">
                    <c:v>Dr. Sneha Reddy</c:v>
                  </c:pt>
                  <c:pt idx="4">
                    <c:v>Dr. Neha Kapoor</c:v>
                  </c:pt>
                  <c:pt idx="5">
                    <c:v>Dr. Vikram Singh</c:v>
                  </c:pt>
                  <c:pt idx="6">
                    <c:v>Dr. Anjali Rao</c:v>
                  </c:pt>
                  <c:pt idx="7">
                    <c:v>Dr. Rohan Gupta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62200</c:v>
                </c:pt>
                <c:pt idx="1">
                  <c:v>37600</c:v>
                </c:pt>
                <c:pt idx="2">
                  <c:v>22100</c:v>
                </c:pt>
                <c:pt idx="3">
                  <c:v>18900</c:v>
                </c:pt>
                <c:pt idx="4">
                  <c:v>14900</c:v>
                </c:pt>
                <c:pt idx="5">
                  <c:v>13800</c:v>
                </c:pt>
                <c:pt idx="6">
                  <c:v>7700</c:v>
                </c:pt>
                <c:pt idx="7">
                  <c:v>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A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A33"/>
                </a:solidFill>
                <a:latin typeface="+mn-lt"/>
              </a:rPr>
              <a:t>Revenue by payment mode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bubble3D val="0"/>
            <c:spPr>
              <a:solidFill>
                <a:srgbClr val="F9B233"/>
              </a:solidFill>
              <a:effectLst/>
            </c:spPr>
          </c:dPt>
          <c:dPt>
            <c:idx val="4"/>
            <c:bubble3D val="0"/>
            <c:spPr>
              <a:solidFill>
                <a:srgbClr val="F9616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Insurance</c:v>
                </c:pt>
                <c:pt idx="1">
                  <c:v>UPI</c:v>
                </c:pt>
                <c:pt idx="2">
                  <c:v>Cash</c:v>
                </c:pt>
                <c:pt idx="3">
                  <c:v>Debit Card</c:v>
                </c:pt>
                <c:pt idx="4">
                  <c:v>Credit Card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100000</c:v>
                </c:pt>
                <c:pt idx="1">
                  <c:v>32400</c:v>
                </c:pt>
                <c:pt idx="2">
                  <c:v>28600</c:v>
                </c:pt>
                <c:pt idx="3">
                  <c:v>15500</c:v>
                </c:pt>
                <c:pt idx="4">
                  <c:v>5700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hospital database built in MySQL, used to practise 50 SQL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database has 8 departments, 10 doctors, 30 patients and 50 appointments.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tables. Appointments sits in the middle and links patients to doctors.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Appointments is the junction table: each row ties one patient to one doctor on one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groups of SQL skills, building from simple filters to joins and subqueries.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SELECT queries: filtering rows with conditions and sorting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Aggregate functions summarise data. GROUP BY splits it into groups, HAVING filters those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query joins two tables, filters to completed visits, groups by doctor and returns the top earner.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visits only. Dr. Amit Sharma earns the most, and insurance is the largest payment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come straight from the revenue, department and month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a query is easy. Writing one that returns the right answer takes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7548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Hospital Management Database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Schema design and 50 SQL queries in MySQL</a:t>
            </a:r>
            <a:endParaRPr lang="en-US" sz="2000" dirty="0"/>
          </a:p>
        </p:txBody>
      </p:sp>
      <p:sp>
        <p:nvSpPr>
          <p:cNvPr id="4" name="Title circle"/>
          <p:cNvSpPr/>
          <p:nvPr/>
        </p:nvSpPr>
        <p:spPr>
          <a:xfrm>
            <a:off x="7223760" y="45720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5" name="Cross vertical"/>
          <p:cNvSpPr/>
          <p:nvPr/>
        </p:nvSpPr>
        <p:spPr>
          <a:xfrm>
            <a:off x="7680960" y="731520"/>
            <a:ext cx="457200" cy="82296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6" name="Cross horizontal"/>
          <p:cNvSpPr/>
          <p:nvPr/>
        </p:nvSpPr>
        <p:spPr>
          <a:xfrm>
            <a:off x="7498080" y="914400"/>
            <a:ext cx="8229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7" name="Presenter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Presented by Mohammed Saad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overview</a:t>
            </a:r>
            <a:endParaRPr lang="en-US" sz="3400" dirty="0"/>
          </a:p>
        </p:txBody>
      </p:sp>
      <p:sp>
        <p:nvSpPr>
          <p:cNvPr id="3" name="Overview bullets"/>
          <p:cNvSpPr txBox="1"/>
          <p:nvPr/>
        </p:nvSpPr>
        <p:spPr>
          <a:xfrm>
            <a:off x="457200" y="14630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Designed a relational database for a hospital in MySQL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Linked four tables with primary and foreign keys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Answered 50 questions, from basic SELECT to business analysis</a:t>
            </a:r>
            <a:endParaRPr lang="en-US" sz="1600" dirty="0"/>
          </a:p>
        </p:txBody>
      </p:sp>
      <p:sp>
        <p:nvSpPr>
          <p:cNvPr id="4" name="Stat card Departments"/>
          <p:cNvSpPr/>
          <p:nvPr/>
        </p:nvSpPr>
        <p:spPr>
          <a:xfrm>
            <a:off x="4937760" y="1371600"/>
            <a:ext cx="1737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tat Departments"/>
          <p:cNvSpPr txBox="1"/>
          <p:nvPr/>
        </p:nvSpPr>
        <p:spPr>
          <a:xfrm>
            <a:off x="4937760" y="1508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8</a:t>
            </a:r>
            <a:endParaRPr lang="en-US" sz="4400" dirty="0"/>
          </a:p>
        </p:txBody>
      </p:sp>
      <p:sp>
        <p:nvSpPr>
          <p:cNvPr id="6" name="Label Departments"/>
          <p:cNvSpPr txBox="1"/>
          <p:nvPr/>
        </p:nvSpPr>
        <p:spPr>
          <a:xfrm>
            <a:off x="49377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Departments</a:t>
            </a:r>
            <a:endParaRPr lang="en-US" sz="1400" dirty="0"/>
          </a:p>
        </p:txBody>
      </p:sp>
      <p:sp>
        <p:nvSpPr>
          <p:cNvPr id="7" name="Stat card Doctors"/>
          <p:cNvSpPr/>
          <p:nvPr/>
        </p:nvSpPr>
        <p:spPr>
          <a:xfrm>
            <a:off x="6858000" y="1371600"/>
            <a:ext cx="1737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tat Doctors"/>
          <p:cNvSpPr txBox="1"/>
          <p:nvPr/>
        </p:nvSpPr>
        <p:spPr>
          <a:xfrm>
            <a:off x="6858000" y="1508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</a:t>
            </a:r>
            <a:endParaRPr lang="en-US" sz="4400" dirty="0"/>
          </a:p>
        </p:txBody>
      </p:sp>
      <p:sp>
        <p:nvSpPr>
          <p:cNvPr id="9" name="Label Doctors"/>
          <p:cNvSpPr txBox="1"/>
          <p:nvPr/>
        </p:nvSpPr>
        <p:spPr>
          <a:xfrm>
            <a:off x="685800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Doctors</a:t>
            </a:r>
            <a:endParaRPr lang="en-US" sz="1400" dirty="0"/>
          </a:p>
        </p:txBody>
      </p:sp>
      <p:sp>
        <p:nvSpPr>
          <p:cNvPr id="10" name="Stat card Patients"/>
          <p:cNvSpPr/>
          <p:nvPr/>
        </p:nvSpPr>
        <p:spPr>
          <a:xfrm>
            <a:off x="4937760" y="2971800"/>
            <a:ext cx="1737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tat Patients"/>
          <p:cNvSpPr txBox="1"/>
          <p:nvPr/>
        </p:nvSpPr>
        <p:spPr>
          <a:xfrm>
            <a:off x="4937760" y="3108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30</a:t>
            </a:r>
            <a:endParaRPr lang="en-US" sz="4400" dirty="0"/>
          </a:p>
        </p:txBody>
      </p:sp>
      <p:sp>
        <p:nvSpPr>
          <p:cNvPr id="12" name="Label Patients"/>
          <p:cNvSpPr txBox="1"/>
          <p:nvPr/>
        </p:nvSpPr>
        <p:spPr>
          <a:xfrm>
            <a:off x="4937760" y="3840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Patients</a:t>
            </a:r>
            <a:endParaRPr lang="en-US" sz="1400" dirty="0"/>
          </a:p>
        </p:txBody>
      </p:sp>
      <p:sp>
        <p:nvSpPr>
          <p:cNvPr id="13" name="Stat card Appointments"/>
          <p:cNvSpPr/>
          <p:nvPr/>
        </p:nvSpPr>
        <p:spPr>
          <a:xfrm>
            <a:off x="6858000" y="2971800"/>
            <a:ext cx="1737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tat Appointments"/>
          <p:cNvSpPr txBox="1"/>
          <p:nvPr/>
        </p:nvSpPr>
        <p:spPr>
          <a:xfrm>
            <a:off x="6858000" y="3108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50</a:t>
            </a:r>
            <a:endParaRPr lang="en-US" sz="4400" dirty="0"/>
          </a:p>
        </p:txBody>
      </p:sp>
      <p:sp>
        <p:nvSpPr>
          <p:cNvPr id="15" name="Label Appointments"/>
          <p:cNvSpPr txBox="1"/>
          <p:nvPr/>
        </p:nvSpPr>
        <p:spPr>
          <a:xfrm>
            <a:off x="6858000" y="3840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Appointments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Database schema</a:t>
            </a:r>
            <a:endParaRPr lang="en-US" sz="3400" dirty="0"/>
          </a:p>
        </p:txBody>
      </p:sp>
      <p:sp>
        <p:nvSpPr>
          <p:cNvPr id="3" name="Table card Departments"/>
          <p:cNvSpPr/>
          <p:nvPr/>
        </p:nvSpPr>
        <p:spPr>
          <a:xfrm>
            <a:off x="457200" y="1280160"/>
            <a:ext cx="1883664" cy="2880360"/>
          </a:xfrm>
          <a:prstGeom prst="roundRect">
            <a:avLst>
              <a:gd name="adj" fmla="val 388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able name Departments"/>
          <p:cNvSpPr txBox="1"/>
          <p:nvPr/>
        </p:nvSpPr>
        <p:spPr>
          <a:xfrm>
            <a:off x="566928" y="13716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Departments</a:t>
            </a:r>
            <a:endParaRPr lang="en-US" sz="1600" dirty="0"/>
          </a:p>
        </p:txBody>
      </p:sp>
      <p:sp>
        <p:nvSpPr>
          <p:cNvPr id="5" name="Columns Departments"/>
          <p:cNvSpPr txBox="1"/>
          <p:nvPr/>
        </p:nvSpPr>
        <p:spPr>
          <a:xfrm>
            <a:off x="566928" y="1783080"/>
            <a:ext cx="1664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department_id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  PK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department_name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floor_no</a:t>
            </a:r>
            <a:endParaRPr lang="en-US" sz="1200" dirty="0"/>
          </a:p>
        </p:txBody>
      </p:sp>
      <p:sp>
        <p:nvSpPr>
          <p:cNvPr id="6" name="Table card Doctors"/>
          <p:cNvSpPr/>
          <p:nvPr/>
        </p:nvSpPr>
        <p:spPr>
          <a:xfrm>
            <a:off x="2569464" y="1280160"/>
            <a:ext cx="1883664" cy="2880360"/>
          </a:xfrm>
          <a:prstGeom prst="roundRect">
            <a:avLst>
              <a:gd name="adj" fmla="val 388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able name Doctors"/>
          <p:cNvSpPr txBox="1"/>
          <p:nvPr/>
        </p:nvSpPr>
        <p:spPr>
          <a:xfrm>
            <a:off x="2679192" y="13716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Doctors</a:t>
            </a:r>
            <a:endParaRPr lang="en-US" sz="1600" dirty="0"/>
          </a:p>
        </p:txBody>
      </p:sp>
      <p:sp>
        <p:nvSpPr>
          <p:cNvPr id="8" name="Columns Doctors"/>
          <p:cNvSpPr txBox="1"/>
          <p:nvPr/>
        </p:nvSpPr>
        <p:spPr>
          <a:xfrm>
            <a:off x="2679192" y="1783080"/>
            <a:ext cx="1664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doctor_id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  PK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doctor_name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gender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department_id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  FK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experience_years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consultation_fee</a:t>
            </a:r>
            <a:endParaRPr lang="en-US" sz="1200" dirty="0"/>
          </a:p>
        </p:txBody>
      </p:sp>
      <p:sp>
        <p:nvSpPr>
          <p:cNvPr id="9" name="Table card Patients"/>
          <p:cNvSpPr/>
          <p:nvPr/>
        </p:nvSpPr>
        <p:spPr>
          <a:xfrm>
            <a:off x="4681728" y="1280160"/>
            <a:ext cx="1883664" cy="2880360"/>
          </a:xfrm>
          <a:prstGeom prst="roundRect">
            <a:avLst>
              <a:gd name="adj" fmla="val 388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able name Patients"/>
          <p:cNvSpPr txBox="1"/>
          <p:nvPr/>
        </p:nvSpPr>
        <p:spPr>
          <a:xfrm>
            <a:off x="4791456" y="13716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Patients</a:t>
            </a:r>
            <a:endParaRPr lang="en-US" sz="1600" dirty="0"/>
          </a:p>
        </p:txBody>
      </p:sp>
      <p:sp>
        <p:nvSpPr>
          <p:cNvPr id="11" name="Columns Patients"/>
          <p:cNvSpPr txBox="1"/>
          <p:nvPr/>
        </p:nvSpPr>
        <p:spPr>
          <a:xfrm>
            <a:off x="4791456" y="1783080"/>
            <a:ext cx="1664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patient_id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  PK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patient_name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gender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age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blood_group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city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phone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registration_date</a:t>
            </a:r>
            <a:endParaRPr lang="en-US" sz="1200" dirty="0"/>
          </a:p>
        </p:txBody>
      </p:sp>
      <p:sp>
        <p:nvSpPr>
          <p:cNvPr id="12" name="Table card Appointments"/>
          <p:cNvSpPr/>
          <p:nvPr/>
        </p:nvSpPr>
        <p:spPr>
          <a:xfrm>
            <a:off x="6793992" y="1280160"/>
            <a:ext cx="1883664" cy="2880360"/>
          </a:xfrm>
          <a:prstGeom prst="roundRect">
            <a:avLst>
              <a:gd name="adj" fmla="val 388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able name Appointments"/>
          <p:cNvSpPr txBox="1"/>
          <p:nvPr/>
        </p:nvSpPr>
        <p:spPr>
          <a:xfrm>
            <a:off x="6903720" y="13716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Appointments</a:t>
            </a:r>
            <a:endParaRPr lang="en-US" sz="1600" dirty="0"/>
          </a:p>
        </p:txBody>
      </p:sp>
      <p:sp>
        <p:nvSpPr>
          <p:cNvPr id="14" name="Columns Appointments"/>
          <p:cNvSpPr txBox="1"/>
          <p:nvPr/>
        </p:nvSpPr>
        <p:spPr>
          <a:xfrm>
            <a:off x="6903720" y="1783080"/>
            <a:ext cx="1664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appointment_id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  PK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patient_id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  FK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doctor_id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  FK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appointment_date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disease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treatment_cost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payment_mode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status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rating</a:t>
            </a:r>
            <a:endParaRPr lang="en-US" sz="1200" dirty="0"/>
          </a:p>
        </p:txBody>
      </p:sp>
      <p:sp>
        <p:nvSpPr>
          <p:cNvPr id="15" name="Schema caption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PK = primary key, FK = foreign key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the tables connect</a:t>
            </a:r>
            <a:endParaRPr lang="en-US" sz="3400" dirty="0"/>
          </a:p>
        </p:txBody>
      </p:sp>
      <p:sp>
        <p:nvSpPr>
          <p:cNvPr id="3" name="ER box Departments"/>
          <p:cNvSpPr/>
          <p:nvPr/>
        </p:nvSpPr>
        <p:spPr>
          <a:xfrm>
            <a:off x="457200" y="137160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ER name Departments"/>
          <p:cNvSpPr txBox="1"/>
          <p:nvPr/>
        </p:nvSpPr>
        <p:spPr>
          <a:xfrm>
            <a:off x="45720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Departments</a:t>
            </a:r>
            <a:endParaRPr lang="en-US" sz="1600" dirty="0"/>
          </a:p>
        </p:txBody>
      </p:sp>
      <p:sp>
        <p:nvSpPr>
          <p:cNvPr id="5" name="ER rows Departments"/>
          <p:cNvSpPr txBox="1"/>
          <p:nvPr/>
        </p:nvSpPr>
        <p:spPr>
          <a:xfrm>
            <a:off x="45720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8 rows</a:t>
            </a:r>
            <a:endParaRPr lang="en-US" sz="1200" dirty="0"/>
          </a:p>
        </p:txBody>
      </p:sp>
      <p:sp>
        <p:nvSpPr>
          <p:cNvPr id="6" name="ER box Doctors"/>
          <p:cNvSpPr/>
          <p:nvPr/>
        </p:nvSpPr>
        <p:spPr>
          <a:xfrm>
            <a:off x="2621585" y="137160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ER name Doctors"/>
          <p:cNvSpPr txBox="1"/>
          <p:nvPr/>
        </p:nvSpPr>
        <p:spPr>
          <a:xfrm>
            <a:off x="2621585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Doctors</a:t>
            </a:r>
            <a:endParaRPr lang="en-US" sz="1600" dirty="0"/>
          </a:p>
        </p:txBody>
      </p:sp>
      <p:sp>
        <p:nvSpPr>
          <p:cNvPr id="8" name="ER rows Doctors"/>
          <p:cNvSpPr txBox="1"/>
          <p:nvPr/>
        </p:nvSpPr>
        <p:spPr>
          <a:xfrm>
            <a:off x="2621585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10 rows</a:t>
            </a:r>
            <a:endParaRPr lang="en-US" sz="1200" dirty="0"/>
          </a:p>
        </p:txBody>
      </p:sp>
      <p:sp>
        <p:nvSpPr>
          <p:cNvPr id="9" name="ER box Appointments"/>
          <p:cNvSpPr/>
          <p:nvPr/>
        </p:nvSpPr>
        <p:spPr>
          <a:xfrm>
            <a:off x="4785055" y="137160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ER name Appointments"/>
          <p:cNvSpPr txBox="1"/>
          <p:nvPr/>
        </p:nvSpPr>
        <p:spPr>
          <a:xfrm>
            <a:off x="4785055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Appointments</a:t>
            </a:r>
            <a:endParaRPr lang="en-US" sz="1600" dirty="0"/>
          </a:p>
        </p:txBody>
      </p:sp>
      <p:sp>
        <p:nvSpPr>
          <p:cNvPr id="11" name="ER rows Appointments"/>
          <p:cNvSpPr txBox="1"/>
          <p:nvPr/>
        </p:nvSpPr>
        <p:spPr>
          <a:xfrm>
            <a:off x="4785055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50 rows</a:t>
            </a:r>
            <a:endParaRPr lang="en-US" sz="1200" dirty="0"/>
          </a:p>
        </p:txBody>
      </p:sp>
      <p:sp>
        <p:nvSpPr>
          <p:cNvPr id="12" name="ER box Patients"/>
          <p:cNvSpPr/>
          <p:nvPr/>
        </p:nvSpPr>
        <p:spPr>
          <a:xfrm>
            <a:off x="6949440" y="137160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ER name Patients"/>
          <p:cNvSpPr txBox="1"/>
          <p:nvPr/>
        </p:nvSpPr>
        <p:spPr>
          <a:xfrm>
            <a:off x="694944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Patients</a:t>
            </a:r>
            <a:endParaRPr lang="en-US" sz="1600" dirty="0"/>
          </a:p>
        </p:txBody>
      </p:sp>
      <p:sp>
        <p:nvSpPr>
          <p:cNvPr id="14" name="ER rows Patients"/>
          <p:cNvSpPr txBox="1"/>
          <p:nvPr/>
        </p:nvSpPr>
        <p:spPr>
          <a:xfrm>
            <a:off x="694944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30 rows</a:t>
            </a:r>
            <a:endParaRPr lang="en-US" sz="1200" dirty="0"/>
          </a:p>
        </p:txBody>
      </p:sp>
      <p:sp>
        <p:nvSpPr>
          <p:cNvPr id="15" name="ER link 0"/>
          <p:cNvSpPr/>
          <p:nvPr/>
        </p:nvSpPr>
        <p:spPr>
          <a:xfrm>
            <a:off x="2194560" y="1874520"/>
            <a:ext cx="427025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ER cardinality 0"/>
          <p:cNvSpPr txBox="1"/>
          <p:nvPr/>
        </p:nvSpPr>
        <p:spPr>
          <a:xfrm>
            <a:off x="2148840" y="1508760"/>
            <a:ext cx="5184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1 : N</a:t>
            </a:r>
            <a:endParaRPr lang="en-US" sz="1200" dirty="0"/>
          </a:p>
        </p:txBody>
      </p:sp>
      <p:sp>
        <p:nvSpPr>
          <p:cNvPr id="17" name="ER link 1"/>
          <p:cNvSpPr/>
          <p:nvPr/>
        </p:nvSpPr>
        <p:spPr>
          <a:xfrm>
            <a:off x="4358945" y="1874520"/>
            <a:ext cx="42611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ER cardinality 1"/>
          <p:cNvSpPr txBox="1"/>
          <p:nvPr/>
        </p:nvSpPr>
        <p:spPr>
          <a:xfrm>
            <a:off x="4313225" y="1508760"/>
            <a:ext cx="517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1 : N</a:t>
            </a:r>
            <a:endParaRPr lang="en-US" sz="1200" dirty="0"/>
          </a:p>
        </p:txBody>
      </p:sp>
      <p:sp>
        <p:nvSpPr>
          <p:cNvPr id="19" name="ER link 2"/>
          <p:cNvSpPr/>
          <p:nvPr/>
        </p:nvSpPr>
        <p:spPr>
          <a:xfrm>
            <a:off x="6522415" y="1874520"/>
            <a:ext cx="427025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20" name="ER cardinality 2"/>
          <p:cNvSpPr txBox="1"/>
          <p:nvPr/>
        </p:nvSpPr>
        <p:spPr>
          <a:xfrm>
            <a:off x="6476695" y="1508760"/>
            <a:ext cx="5184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1 : N</a:t>
            </a:r>
            <a:endParaRPr lang="en-US" sz="1200" dirty="0"/>
          </a:p>
        </p:txBody>
      </p:sp>
      <p:sp>
        <p:nvSpPr>
          <p:cNvPr id="21" name="Relation card 1"/>
          <p:cNvSpPr/>
          <p:nvPr/>
        </p:nvSpPr>
        <p:spPr>
          <a:xfrm>
            <a:off x="457200" y="28346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Relation circle 1"/>
          <p:cNvSpPr/>
          <p:nvPr/>
        </p:nvSpPr>
        <p:spPr>
          <a:xfrm>
            <a:off x="594360" y="29718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3" name="Relation circle 1 number"/>
          <p:cNvSpPr txBox="1"/>
          <p:nvPr/>
        </p:nvSpPr>
        <p:spPr>
          <a:xfrm>
            <a:off x="5943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4" name="Relation title 1"/>
          <p:cNvSpPr txBox="1"/>
          <p:nvPr/>
        </p:nvSpPr>
        <p:spPr>
          <a:xfrm>
            <a:off x="109728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department, many doctors</a:t>
            </a:r>
            <a:endParaRPr lang="en-US" sz="1400" dirty="0"/>
          </a:p>
        </p:txBody>
      </p:sp>
      <p:sp>
        <p:nvSpPr>
          <p:cNvPr id="25" name="Relation detail 1"/>
          <p:cNvSpPr txBox="1"/>
          <p:nvPr/>
        </p:nvSpPr>
        <p:spPr>
          <a:xfrm>
            <a:off x="594360" y="3566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doctors.department_id links to departments</a:t>
            </a:r>
            <a:endParaRPr lang="en-US" sz="1400" dirty="0"/>
          </a:p>
        </p:txBody>
      </p:sp>
      <p:sp>
        <p:nvSpPr>
          <p:cNvPr id="26" name="Relation card 2"/>
          <p:cNvSpPr/>
          <p:nvPr/>
        </p:nvSpPr>
        <p:spPr>
          <a:xfrm>
            <a:off x="3291840" y="28346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Relation circle 2"/>
          <p:cNvSpPr/>
          <p:nvPr/>
        </p:nvSpPr>
        <p:spPr>
          <a:xfrm>
            <a:off x="3429000" y="29718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8" name="Relation circle 2 number"/>
          <p:cNvSpPr txBox="1"/>
          <p:nvPr/>
        </p:nvSpPr>
        <p:spPr>
          <a:xfrm>
            <a:off x="34290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9" name="Relation title 2"/>
          <p:cNvSpPr txBox="1"/>
          <p:nvPr/>
        </p:nvSpPr>
        <p:spPr>
          <a:xfrm>
            <a:off x="393192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doctor, many appointments</a:t>
            </a:r>
            <a:endParaRPr lang="en-US" sz="1400" dirty="0"/>
          </a:p>
        </p:txBody>
      </p:sp>
      <p:sp>
        <p:nvSpPr>
          <p:cNvPr id="30" name="Relation detail 2"/>
          <p:cNvSpPr txBox="1"/>
          <p:nvPr/>
        </p:nvSpPr>
        <p:spPr>
          <a:xfrm>
            <a:off x="3429000" y="3566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appointments.doctor_id links to doctors</a:t>
            </a:r>
            <a:endParaRPr lang="en-US" sz="1400" dirty="0"/>
          </a:p>
        </p:txBody>
      </p:sp>
      <p:sp>
        <p:nvSpPr>
          <p:cNvPr id="31" name="Relation card 3"/>
          <p:cNvSpPr/>
          <p:nvPr/>
        </p:nvSpPr>
        <p:spPr>
          <a:xfrm>
            <a:off x="6126480" y="28346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Relation circle 3"/>
          <p:cNvSpPr/>
          <p:nvPr/>
        </p:nvSpPr>
        <p:spPr>
          <a:xfrm>
            <a:off x="6263640" y="29718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3" name="Relation circle 3 number"/>
          <p:cNvSpPr txBox="1"/>
          <p:nvPr/>
        </p:nvSpPr>
        <p:spPr>
          <a:xfrm>
            <a:off x="62636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4" name="Relation title 3"/>
          <p:cNvSpPr txBox="1"/>
          <p:nvPr/>
        </p:nvSpPr>
        <p:spPr>
          <a:xfrm>
            <a:off x="676656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patient, many appointments</a:t>
            </a:r>
            <a:endParaRPr lang="en-US" sz="1400" dirty="0"/>
          </a:p>
        </p:txBody>
      </p:sp>
      <p:sp>
        <p:nvSpPr>
          <p:cNvPr id="35" name="Relation detail 3"/>
          <p:cNvSpPr txBox="1"/>
          <p:nvPr/>
        </p:nvSpPr>
        <p:spPr>
          <a:xfrm>
            <a:off x="6263640" y="3566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appointments.patient_id links to patients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SQL concepts covered</a:t>
            </a:r>
            <a:endParaRPr lang="en-US" sz="3400" dirty="0"/>
          </a:p>
        </p:txBody>
      </p:sp>
      <p:sp>
        <p:nvSpPr>
          <p:cNvPr id="3" name="Concept card Filtering"/>
          <p:cNvSpPr/>
          <p:nvPr/>
        </p:nvSpPr>
        <p:spPr>
          <a:xfrm>
            <a:off x="457200" y="13258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Concept circle 1"/>
          <p:cNvSpPr/>
          <p:nvPr/>
        </p:nvSpPr>
        <p:spPr>
          <a:xfrm>
            <a:off x="59436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5" name="Concept circle 1 number"/>
          <p:cNvSpPr txBox="1"/>
          <p:nvPr/>
        </p:nvSpPr>
        <p:spPr>
          <a:xfrm>
            <a:off x="59436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oncept title Filtering"/>
          <p:cNvSpPr txBox="1"/>
          <p:nvPr/>
        </p:nvSpPr>
        <p:spPr>
          <a:xfrm>
            <a:off x="114300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Filtering</a:t>
            </a:r>
            <a:endParaRPr lang="en-US" sz="1600" dirty="0"/>
          </a:p>
        </p:txBody>
      </p:sp>
      <p:sp>
        <p:nvSpPr>
          <p:cNvPr id="7" name="Concept detail Filtering"/>
          <p:cNvSpPr txBox="1"/>
          <p:nvPr/>
        </p:nvSpPr>
        <p:spPr>
          <a:xfrm>
            <a:off x="594360" y="2011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WHERE, BETWEEN, IN, LIKE, IS NULL</a:t>
            </a:r>
            <a:endParaRPr lang="en-US" sz="1400" dirty="0"/>
          </a:p>
        </p:txBody>
      </p:sp>
      <p:sp>
        <p:nvSpPr>
          <p:cNvPr id="8" name="Concept card Sorting"/>
          <p:cNvSpPr/>
          <p:nvPr/>
        </p:nvSpPr>
        <p:spPr>
          <a:xfrm>
            <a:off x="3268980" y="13258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Concept circle 2"/>
          <p:cNvSpPr/>
          <p:nvPr/>
        </p:nvSpPr>
        <p:spPr>
          <a:xfrm>
            <a:off x="340614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0" name="Concept circle 2 number"/>
          <p:cNvSpPr txBox="1"/>
          <p:nvPr/>
        </p:nvSpPr>
        <p:spPr>
          <a:xfrm>
            <a:off x="34061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oncept title Sorting"/>
          <p:cNvSpPr txBox="1"/>
          <p:nvPr/>
        </p:nvSpPr>
        <p:spPr>
          <a:xfrm>
            <a:off x="395478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Sorting</a:t>
            </a:r>
            <a:endParaRPr lang="en-US" sz="1600" dirty="0"/>
          </a:p>
        </p:txBody>
      </p:sp>
      <p:sp>
        <p:nvSpPr>
          <p:cNvPr id="12" name="Concept detail Sorting"/>
          <p:cNvSpPr txBox="1"/>
          <p:nvPr/>
        </p:nvSpPr>
        <p:spPr>
          <a:xfrm>
            <a:off x="3406140" y="2011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ORDER BY, DISTINCT, LIMIT</a:t>
            </a:r>
            <a:endParaRPr lang="en-US" sz="1400" dirty="0"/>
          </a:p>
        </p:txBody>
      </p:sp>
      <p:sp>
        <p:nvSpPr>
          <p:cNvPr id="13" name="Concept card Aggregates"/>
          <p:cNvSpPr/>
          <p:nvPr/>
        </p:nvSpPr>
        <p:spPr>
          <a:xfrm>
            <a:off x="6080760" y="13258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Concept circle 3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5" name="Concept circle 3 number"/>
          <p:cNvSpPr txBox="1"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Concept title Aggregates"/>
          <p:cNvSpPr txBox="1"/>
          <p:nvPr/>
        </p:nvSpPr>
        <p:spPr>
          <a:xfrm>
            <a:off x="676656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Aggregates</a:t>
            </a:r>
            <a:endParaRPr lang="en-US" sz="1600" dirty="0"/>
          </a:p>
        </p:txBody>
      </p:sp>
      <p:sp>
        <p:nvSpPr>
          <p:cNvPr id="17" name="Concept detail Aggregates"/>
          <p:cNvSpPr txBox="1"/>
          <p:nvPr/>
        </p:nvSpPr>
        <p:spPr>
          <a:xfrm>
            <a:off x="6217920" y="2011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COUNT, SUM, AVG, MAX, MIN</a:t>
            </a:r>
            <a:endParaRPr lang="en-US" sz="1400" dirty="0"/>
          </a:p>
        </p:txBody>
      </p:sp>
      <p:sp>
        <p:nvSpPr>
          <p:cNvPr id="18" name="Concept card Grouping"/>
          <p:cNvSpPr/>
          <p:nvPr/>
        </p:nvSpPr>
        <p:spPr>
          <a:xfrm>
            <a:off x="457200" y="29718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Concept circle 4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0" name="Concept circle 4 number"/>
          <p:cNvSpPr txBox="1"/>
          <p:nvPr/>
        </p:nvSpPr>
        <p:spPr>
          <a:xfrm>
            <a:off x="594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Concept title Grouping"/>
          <p:cNvSpPr txBox="1"/>
          <p:nvPr/>
        </p:nvSpPr>
        <p:spPr>
          <a:xfrm>
            <a:off x="114300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Grouping</a:t>
            </a:r>
            <a:endParaRPr lang="en-US" sz="1600" dirty="0"/>
          </a:p>
        </p:txBody>
      </p:sp>
      <p:sp>
        <p:nvSpPr>
          <p:cNvPr id="22" name="Concept detail Grouping"/>
          <p:cNvSpPr txBox="1"/>
          <p:nvPr/>
        </p:nvSpPr>
        <p:spPr>
          <a:xfrm>
            <a:off x="594360" y="3657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GROUP BY with HAVING filters</a:t>
            </a:r>
            <a:endParaRPr lang="en-US" sz="1400" dirty="0"/>
          </a:p>
        </p:txBody>
      </p:sp>
      <p:sp>
        <p:nvSpPr>
          <p:cNvPr id="23" name="Concept card Joins"/>
          <p:cNvSpPr/>
          <p:nvPr/>
        </p:nvSpPr>
        <p:spPr>
          <a:xfrm>
            <a:off x="3268980" y="29718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Concept circle 5"/>
          <p:cNvSpPr/>
          <p:nvPr/>
        </p:nvSpPr>
        <p:spPr>
          <a:xfrm>
            <a:off x="3406140" y="3108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5" name="Concept circle 5 number"/>
          <p:cNvSpPr txBox="1"/>
          <p:nvPr/>
        </p:nvSpPr>
        <p:spPr>
          <a:xfrm>
            <a:off x="34061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Concept title Joins"/>
          <p:cNvSpPr txBox="1"/>
          <p:nvPr/>
        </p:nvSpPr>
        <p:spPr>
          <a:xfrm>
            <a:off x="395478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Joins</a:t>
            </a:r>
            <a:endParaRPr lang="en-US" sz="1600" dirty="0"/>
          </a:p>
        </p:txBody>
      </p:sp>
      <p:sp>
        <p:nvSpPr>
          <p:cNvPr id="27" name="Concept detail Joins"/>
          <p:cNvSpPr txBox="1"/>
          <p:nvPr/>
        </p:nvSpPr>
        <p:spPr>
          <a:xfrm>
            <a:off x="3406140" y="3657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INNER and LEFT JOIN across tables</a:t>
            </a:r>
            <a:endParaRPr lang="en-US" sz="1400" dirty="0"/>
          </a:p>
        </p:txBody>
      </p:sp>
      <p:sp>
        <p:nvSpPr>
          <p:cNvPr id="28" name="Concept card Subqueries"/>
          <p:cNvSpPr/>
          <p:nvPr/>
        </p:nvSpPr>
        <p:spPr>
          <a:xfrm>
            <a:off x="6080760" y="29718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Concept circle 6"/>
          <p:cNvSpPr/>
          <p:nvPr/>
        </p:nvSpPr>
        <p:spPr>
          <a:xfrm>
            <a:off x="6217920" y="3108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0" name="Concept circle 6 number"/>
          <p:cNvSpPr txBox="1"/>
          <p:nvPr/>
        </p:nvSpPr>
        <p:spPr>
          <a:xfrm>
            <a:off x="62179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Concept title Subqueries"/>
          <p:cNvSpPr txBox="1"/>
          <p:nvPr/>
        </p:nvSpPr>
        <p:spPr>
          <a:xfrm>
            <a:off x="676656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Subqueries</a:t>
            </a:r>
            <a:endParaRPr lang="en-US" sz="1600" dirty="0"/>
          </a:p>
        </p:txBody>
      </p:sp>
      <p:sp>
        <p:nvSpPr>
          <p:cNvPr id="32" name="Concept detail Subqueries"/>
          <p:cNvSpPr txBox="1"/>
          <p:nvPr/>
        </p:nvSpPr>
        <p:spPr>
          <a:xfrm>
            <a:off x="6217920" y="3657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Nested queries and DATE_FORMAT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Filtering and sorting</a:t>
            </a:r>
            <a:endParaRPr lang="en-US" sz="3400" dirty="0"/>
          </a:p>
        </p:txBody>
      </p:sp>
      <p:sp>
        <p:nvSpPr>
          <p:cNvPr id="3" name="Code panel"/>
          <p:cNvSpPr/>
          <p:nvPr/>
        </p:nvSpPr>
        <p:spPr>
          <a:xfrm>
            <a:off x="457200" y="1325880"/>
            <a:ext cx="493776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QL code"/>
          <p:cNvSpPr txBox="1"/>
          <p:nvPr/>
        </p:nvSpPr>
        <p:spPr>
          <a:xfrm>
            <a:off x="594360" y="14630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('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Cancelled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5" name="Side heading"/>
          <p:cNvSpPr txBox="1"/>
          <p:nvPr/>
        </p:nvSpPr>
        <p:spPr>
          <a:xfrm>
            <a:off x="566928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Questions 1 to 20</a:t>
            </a:r>
            <a:endParaRPr lang="en-US" sz="2000" dirty="0"/>
          </a:p>
        </p:txBody>
      </p:sp>
      <p:sp>
        <p:nvSpPr>
          <p:cNvPr id="6" name="Side bullets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Retrieve and sort records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Filter by age, city, status and fee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Find missing ratings with IS NULL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Aggregation and grouping</a:t>
            </a:r>
            <a:endParaRPr lang="en-US" sz="3400" dirty="0"/>
          </a:p>
        </p:txBody>
      </p:sp>
      <p:sp>
        <p:nvSpPr>
          <p:cNvPr id="3" name="Code panel"/>
          <p:cNvSpPr/>
          <p:nvPr/>
        </p:nvSpPr>
        <p:spPr>
          <a:xfrm>
            <a:off x="457200" y="1325880"/>
            <a:ext cx="493776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QL code"/>
          <p:cNvSpPr txBox="1"/>
          <p:nvPr/>
        </p:nvSpPr>
        <p:spPr>
          <a:xfrm>
            <a:off x="594360" y="14630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patient_count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&gt; 3;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consultation_fee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5" name="Side heading"/>
          <p:cNvSpPr txBox="1"/>
          <p:nvPr/>
        </p:nvSpPr>
        <p:spPr>
          <a:xfrm>
            <a:off x="566928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Questions 21 to 40</a:t>
            </a:r>
            <a:endParaRPr lang="en-US" sz="2000" dirty="0"/>
          </a:p>
        </p:txBody>
      </p:sp>
      <p:sp>
        <p:nvSpPr>
          <p:cNvPr id="6" name="Side bullets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Summarise data with COUNT, SUM and AVG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Hyderabad has the most patients (6)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HAVING filters groups, WHERE filters rows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Joins and business questions</a:t>
            </a:r>
            <a:endParaRPr lang="en-US" sz="3400" dirty="0"/>
          </a:p>
        </p:txBody>
      </p:sp>
      <p:sp>
        <p:nvSpPr>
          <p:cNvPr id="3" name="Code panel"/>
          <p:cNvSpPr/>
          <p:nvPr/>
        </p:nvSpPr>
        <p:spPr>
          <a:xfrm>
            <a:off x="457200" y="1325880"/>
            <a:ext cx="493776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QL code"/>
          <p:cNvSpPr txBox="1"/>
          <p:nvPr/>
        </p:nvSpPr>
        <p:spPr>
          <a:xfrm>
            <a:off x="594360" y="14630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doctor_name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treatment_cost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doctor_id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doctor_id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'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doctor_id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doctor_name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1;</a:t>
            </a:r>
            <a:endParaRPr lang="en-US" sz="1300" dirty="0"/>
          </a:p>
        </p:txBody>
      </p:sp>
      <p:sp>
        <p:nvSpPr>
          <p:cNvPr id="5" name="Top earner card"/>
          <p:cNvSpPr/>
          <p:nvPr/>
        </p:nvSpPr>
        <p:spPr>
          <a:xfrm>
            <a:off x="5669280" y="1325880"/>
            <a:ext cx="30175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op earner label"/>
          <p:cNvSpPr txBox="1"/>
          <p:nvPr/>
        </p:nvSpPr>
        <p:spPr>
          <a:xfrm>
            <a:off x="566928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Top earner</a:t>
            </a:r>
            <a:endParaRPr lang="en-US" sz="1400" dirty="0"/>
          </a:p>
        </p:txBody>
      </p:sp>
      <p:sp>
        <p:nvSpPr>
          <p:cNvPr id="7" name="Top earner name"/>
          <p:cNvSpPr txBox="1"/>
          <p:nvPr/>
        </p:nvSpPr>
        <p:spPr>
          <a:xfrm>
            <a:off x="566928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Dr. Amit Sharma</a:t>
            </a:r>
            <a:endParaRPr lang="en-US" sz="2200" dirty="0"/>
          </a:p>
        </p:txBody>
      </p:sp>
      <p:sp>
        <p:nvSpPr>
          <p:cNvPr id="8" name="Top earner value"/>
          <p:cNvSpPr txBox="1"/>
          <p:nvPr/>
        </p:nvSpPr>
        <p:spPr>
          <a:xfrm>
            <a:off x="5669280" y="2194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₹62,200</a:t>
            </a:r>
            <a:endParaRPr lang="en-US" sz="3000" dirty="0"/>
          </a:p>
        </p:txBody>
      </p:sp>
      <p:sp>
        <p:nvSpPr>
          <p:cNvPr id="9" name="Join bullets"/>
          <p:cNvSpPr txBox="1"/>
          <p:nvPr/>
        </p:nvSpPr>
        <p:spPr>
          <a:xfrm>
            <a:off x="5669280" y="3063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JOIN links doctors to their appointments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completed visits count as revenue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the revenue comes from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669280" y="1234440"/>
          <a:ext cx="3017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findings</a:t>
            </a:r>
            <a:endParaRPr lang="en-US" sz="3400" dirty="0"/>
          </a:p>
        </p:txBody>
      </p:sp>
      <p:sp>
        <p:nvSpPr>
          <p:cNvPr id="3" name="Finding card 1"/>
          <p:cNvSpPr/>
          <p:nvPr/>
        </p:nvSpPr>
        <p:spPr>
          <a:xfrm>
            <a:off x="457200" y="132588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Finding number 1"/>
          <p:cNvSpPr txBox="1"/>
          <p:nvPr/>
        </p:nvSpPr>
        <p:spPr>
          <a:xfrm>
            <a:off x="685800" y="14630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₹182,200</a:t>
            </a:r>
            <a:endParaRPr lang="en-US" sz="3600" dirty="0"/>
          </a:p>
        </p:txBody>
      </p:sp>
      <p:sp>
        <p:nvSpPr>
          <p:cNvPr id="5" name="Finding label 1"/>
          <p:cNvSpPr txBox="1"/>
          <p:nvPr/>
        </p:nvSpPr>
        <p:spPr>
          <a:xfrm>
            <a:off x="685800" y="2194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from 48 completed appointments</a:t>
            </a:r>
            <a:endParaRPr lang="en-US" sz="1400" dirty="0"/>
          </a:p>
        </p:txBody>
      </p:sp>
      <p:sp>
        <p:nvSpPr>
          <p:cNvPr id="6" name="Finding card 2"/>
          <p:cNvSpPr/>
          <p:nvPr/>
        </p:nvSpPr>
        <p:spPr>
          <a:xfrm>
            <a:off x="4709160" y="132588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Finding number 2"/>
          <p:cNvSpPr txBox="1"/>
          <p:nvPr/>
        </p:nvSpPr>
        <p:spPr>
          <a:xfrm>
            <a:off x="4937760" y="14630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Cardiology</a:t>
            </a:r>
            <a:endParaRPr lang="en-US" sz="3600" dirty="0"/>
          </a:p>
        </p:txBody>
      </p:sp>
      <p:sp>
        <p:nvSpPr>
          <p:cNvPr id="8" name="Finding label 2"/>
          <p:cNvSpPr txBox="1"/>
          <p:nvPr/>
        </p:nvSpPr>
        <p:spPr>
          <a:xfrm>
            <a:off x="4937760" y="2194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Busiest department with 9 appointments</a:t>
            </a:r>
            <a:endParaRPr lang="en-US" sz="1400" dirty="0"/>
          </a:p>
        </p:txBody>
      </p:sp>
      <p:sp>
        <p:nvSpPr>
          <p:cNvPr id="9" name="Finding card 3"/>
          <p:cNvSpPr/>
          <p:nvPr/>
        </p:nvSpPr>
        <p:spPr>
          <a:xfrm>
            <a:off x="457200" y="297180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Finding number 3"/>
          <p:cNvSpPr txBox="1"/>
          <p:nvPr/>
        </p:nvSpPr>
        <p:spPr>
          <a:xfrm>
            <a:off x="685800" y="3108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June 2024</a:t>
            </a:r>
            <a:endParaRPr lang="en-US" sz="3600" dirty="0"/>
          </a:p>
        </p:txBody>
      </p:sp>
      <p:sp>
        <p:nvSpPr>
          <p:cNvPr id="11" name="Finding label 3"/>
          <p:cNvSpPr txBox="1"/>
          <p:nvPr/>
        </p:nvSpPr>
        <p:spPr>
          <a:xfrm>
            <a:off x="68580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Busiest month with 30 appointments</a:t>
            </a:r>
            <a:endParaRPr lang="en-US" sz="1400" dirty="0"/>
          </a:p>
        </p:txBody>
      </p:sp>
      <p:sp>
        <p:nvSpPr>
          <p:cNvPr id="12" name="Finding card 4"/>
          <p:cNvSpPr/>
          <p:nvPr/>
        </p:nvSpPr>
        <p:spPr>
          <a:xfrm>
            <a:off x="4709160" y="297180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Finding number 4"/>
          <p:cNvSpPr txBox="1"/>
          <p:nvPr/>
        </p:nvSpPr>
        <p:spPr>
          <a:xfrm>
            <a:off x="4937760" y="3108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55%</a:t>
            </a:r>
            <a:endParaRPr lang="en-US" sz="3600" dirty="0"/>
          </a:p>
        </p:txBody>
      </p:sp>
      <p:sp>
        <p:nvSpPr>
          <p:cNvPr id="14" name="Finding label 4"/>
          <p:cNvSpPr txBox="1"/>
          <p:nvPr/>
        </p:nvSpPr>
        <p:spPr>
          <a:xfrm>
            <a:off x="493776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 of revenue paid through insurance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 learned</a:t>
            </a:r>
            <a:endParaRPr lang="en-US" sz="3400" dirty="0"/>
          </a:p>
        </p:txBody>
      </p:sp>
      <p:sp>
        <p:nvSpPr>
          <p:cNvPr id="3" name="Lesson card 1"/>
          <p:cNvSpPr/>
          <p:nvPr/>
        </p:nvSpPr>
        <p:spPr>
          <a:xfrm>
            <a:off x="457200" y="132588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Lesson circle 1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5" name="Lesson circle 1 number"/>
          <p:cNvSpPr txBox="1"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Lesson title 1"/>
          <p:cNvSpPr txBox="1"/>
          <p:nvPr/>
        </p:nvSpPr>
        <p:spPr>
          <a:xfrm>
            <a:off x="640080" y="2103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Status is not payment mode</a:t>
            </a:r>
            <a:endParaRPr lang="en-US" sz="1800" dirty="0"/>
          </a:p>
        </p:txBody>
      </p:sp>
      <p:sp>
        <p:nvSpPr>
          <p:cNvPr id="7" name="Lesson detail 1"/>
          <p:cNvSpPr txBox="1"/>
          <p:nvPr/>
        </p:nvSpPr>
        <p:spPr>
          <a:xfrm>
            <a:off x="64008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One query filtered payment_mode by 'Completed'. It now filters by 'Insurance'.</a:t>
            </a:r>
            <a:endParaRPr lang="en-US" sz="1400" dirty="0"/>
          </a:p>
        </p:txBody>
      </p:sp>
      <p:sp>
        <p:nvSpPr>
          <p:cNvPr id="8" name="Lesson card 2"/>
          <p:cNvSpPr/>
          <p:nvPr/>
        </p:nvSpPr>
        <p:spPr>
          <a:xfrm>
            <a:off x="3268980" y="132588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Lesson circle 2"/>
          <p:cNvSpPr/>
          <p:nvPr/>
        </p:nvSpPr>
        <p:spPr>
          <a:xfrm>
            <a:off x="345186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0" name="Lesson circle 2 number"/>
          <p:cNvSpPr txBox="1"/>
          <p:nvPr/>
        </p:nvSpPr>
        <p:spPr>
          <a:xfrm>
            <a:off x="34518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Lesson title 2"/>
          <p:cNvSpPr txBox="1"/>
          <p:nvPr/>
        </p:nvSpPr>
        <p:spPr>
          <a:xfrm>
            <a:off x="3451860" y="2103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Cancelled is not revenue</a:t>
            </a:r>
            <a:endParaRPr lang="en-US" sz="1800" dirty="0"/>
          </a:p>
        </p:txBody>
      </p:sp>
      <p:sp>
        <p:nvSpPr>
          <p:cNvPr id="12" name="Lesson detail 2"/>
          <p:cNvSpPr txBox="1"/>
          <p:nvPr/>
        </p:nvSpPr>
        <p:spPr>
          <a:xfrm>
            <a:off x="345186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Revenue queries now count only appointments with status 'Completed'.</a:t>
            </a:r>
            <a:endParaRPr lang="en-US" sz="1400" dirty="0"/>
          </a:p>
        </p:txBody>
      </p:sp>
      <p:sp>
        <p:nvSpPr>
          <p:cNvPr id="13" name="Lesson card 3"/>
          <p:cNvSpPr/>
          <p:nvPr/>
        </p:nvSpPr>
        <p:spPr>
          <a:xfrm>
            <a:off x="6080760" y="132588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Lesson circle 3"/>
          <p:cNvSpPr/>
          <p:nvPr/>
        </p:nvSpPr>
        <p:spPr>
          <a:xfrm>
            <a:off x="626364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5" name="Lesson circle 3 number"/>
          <p:cNvSpPr txBox="1"/>
          <p:nvPr/>
        </p:nvSpPr>
        <p:spPr>
          <a:xfrm>
            <a:off x="6263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Lesson title 3"/>
          <p:cNvSpPr txBox="1"/>
          <p:nvPr/>
        </p:nvSpPr>
        <p:spPr>
          <a:xfrm>
            <a:off x="6263640" y="2103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 against real data</a:t>
            </a:r>
            <a:endParaRPr lang="en-US" sz="1800" dirty="0"/>
          </a:p>
        </p:txBody>
      </p:sp>
      <p:sp>
        <p:nvSpPr>
          <p:cNvPr id="17" name="Lesson detail 3"/>
          <p:cNvSpPr txBox="1"/>
          <p:nvPr/>
        </p:nvSpPr>
        <p:spPr>
          <a:xfrm>
            <a:off x="626364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HAVING thresholds were reset so each query returns results on this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Thank you</a:t>
            </a:r>
            <a:endParaRPr lang="en-US" sz="5200" dirty="0"/>
          </a:p>
        </p:txBody>
      </p:sp>
      <p:sp>
        <p:nvSpPr>
          <p:cNvPr id="3" name="Closing line"/>
          <p:cNvSpPr txBox="1"/>
          <p:nvPr/>
        </p:nvSpPr>
        <p:spPr>
          <a:xfrm>
            <a:off x="54864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Questions are welcome</a:t>
            </a:r>
            <a:endParaRPr lang="en-US" sz="2000" dirty="0"/>
          </a:p>
        </p:txBody>
      </p:sp>
      <p:sp>
        <p:nvSpPr>
          <p:cNvPr id="4" name="Chip MySQL"/>
          <p:cNvSpPr/>
          <p:nvPr/>
        </p:nvSpPr>
        <p:spPr>
          <a:xfrm>
            <a:off x="548640" y="2788920"/>
            <a:ext cx="105156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5" name="Chip text MySQL"/>
          <p:cNvSpPr txBox="1"/>
          <p:nvPr/>
        </p:nvSpPr>
        <p:spPr>
          <a:xfrm>
            <a:off x="548640" y="2788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MySQL</a:t>
            </a:r>
            <a:endParaRPr lang="en-US" sz="1400" dirty="0"/>
          </a:p>
        </p:txBody>
      </p:sp>
      <p:sp>
        <p:nvSpPr>
          <p:cNvPr id="6" name="Chip 4 tables"/>
          <p:cNvSpPr/>
          <p:nvPr/>
        </p:nvSpPr>
        <p:spPr>
          <a:xfrm>
            <a:off x="1783080" y="2788920"/>
            <a:ext cx="118872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7" name="Chip text 4 tables"/>
          <p:cNvSpPr txBox="1"/>
          <p:nvPr/>
        </p:nvSpPr>
        <p:spPr>
          <a:xfrm>
            <a:off x="1783080" y="2788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tables</a:t>
            </a:r>
            <a:endParaRPr lang="en-US" sz="1400" dirty="0"/>
          </a:p>
        </p:txBody>
      </p:sp>
      <p:sp>
        <p:nvSpPr>
          <p:cNvPr id="8" name="Chip 50 queries"/>
          <p:cNvSpPr/>
          <p:nvPr/>
        </p:nvSpPr>
        <p:spPr>
          <a:xfrm>
            <a:off x="3154680" y="2788920"/>
            <a:ext cx="13716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9" name="Chip text 50 queries"/>
          <p:cNvSpPr txBox="1"/>
          <p:nvPr/>
        </p:nvSpPr>
        <p:spPr>
          <a:xfrm>
            <a:off x="315468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50 queries</a:t>
            </a:r>
            <a:endParaRPr lang="en-US" sz="1400" dirty="0"/>
          </a:p>
        </p:txBody>
      </p:sp>
      <p:sp>
        <p:nvSpPr>
          <p:cNvPr id="10" name="Presenter name"/>
          <p:cNvSpPr txBox="1"/>
          <p:nvPr/>
        </p:nvSpPr>
        <p:spPr>
          <a:xfrm>
            <a:off x="548640" y="3703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Mohammed Saad</a:t>
            </a:r>
            <a:endParaRPr lang="en-US" sz="2200" dirty="0"/>
          </a:p>
        </p:txBody>
      </p:sp>
      <p:sp>
        <p:nvSpPr>
          <p:cNvPr id="11" name="Project name"/>
          <p:cNvSpPr txBox="1"/>
          <p:nvPr/>
        </p:nvSpPr>
        <p:spPr>
          <a:xfrm>
            <a:off x="54864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Hospital Management Database</a:t>
            </a:r>
            <a:endParaRPr lang="en-US" sz="1400" dirty="0"/>
          </a:p>
        </p:txBody>
      </p:sp>
      <p:sp>
        <p:nvSpPr>
          <p:cNvPr id="12" name="Closing circle"/>
          <p:cNvSpPr/>
          <p:nvPr/>
        </p:nvSpPr>
        <p:spPr>
          <a:xfrm>
            <a:off x="6675120" y="548640"/>
            <a:ext cx="1645920" cy="1645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3" name="Cross vertical"/>
          <p:cNvSpPr/>
          <p:nvPr/>
        </p:nvSpPr>
        <p:spPr>
          <a:xfrm>
            <a:off x="7315200" y="960120"/>
            <a:ext cx="365760" cy="82296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14" name="Cross horizontal"/>
          <p:cNvSpPr/>
          <p:nvPr/>
        </p:nvSpPr>
        <p:spPr>
          <a:xfrm>
            <a:off x="7086600" y="1188720"/>
            <a:ext cx="822960" cy="36576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15" name="Contact card GitHub"/>
          <p:cNvSpPr/>
          <p:nvPr/>
        </p:nvSpPr>
        <p:spPr>
          <a:xfrm>
            <a:off x="5486400" y="2743200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123F4B"/>
          </a:solidFill>
          <a:ln/>
        </p:spPr>
        <p:txBody>
          <a:bodyPr/>
          <a:p/>
        </p:txBody>
      </p:sp>
      <p:sp>
        <p:nvSpPr>
          <p:cNvPr id="16" name="Contact text GitHub"/>
          <p:cNvSpPr txBox="1"/>
          <p:nvPr/>
        </p:nvSpPr>
        <p:spPr>
          <a:xfrm>
            <a:off x="5623560" y="274320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GitHub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github.com/your-username</a:t>
            </a:r>
            <a:endParaRPr lang="en-US" sz="1200" dirty="0"/>
          </a:p>
        </p:txBody>
      </p:sp>
      <p:sp>
        <p:nvSpPr>
          <p:cNvPr id="17" name="Contact card LinkedIn"/>
          <p:cNvSpPr/>
          <p:nvPr/>
        </p:nvSpPr>
        <p:spPr>
          <a:xfrm>
            <a:off x="5486400" y="3383280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123F4B"/>
          </a:solidFill>
          <a:ln/>
        </p:spPr>
        <p:txBody>
          <a:bodyPr/>
          <a:p/>
        </p:txBody>
      </p:sp>
      <p:sp>
        <p:nvSpPr>
          <p:cNvPr id="18" name="Contact text LinkedIn"/>
          <p:cNvSpPr txBox="1"/>
          <p:nvPr/>
        </p:nvSpPr>
        <p:spPr>
          <a:xfrm>
            <a:off x="5623560" y="33832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LinkedIn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linkedin.com/in/your-name</a:t>
            </a:r>
            <a:endParaRPr lang="en-US" sz="1200" dirty="0"/>
          </a:p>
        </p:txBody>
      </p:sp>
      <p:sp>
        <p:nvSpPr>
          <p:cNvPr id="19" name="Contact card Email"/>
          <p:cNvSpPr/>
          <p:nvPr/>
        </p:nvSpPr>
        <p:spPr>
          <a:xfrm>
            <a:off x="5486400" y="4023360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123F4B"/>
          </a:solidFill>
          <a:ln/>
        </p:spPr>
        <p:txBody>
          <a:bodyPr/>
          <a:p/>
        </p:txBody>
      </p:sp>
      <p:sp>
        <p:nvSpPr>
          <p:cNvPr id="20" name="Contact text Email"/>
          <p:cNvSpPr txBox="1"/>
          <p:nvPr/>
        </p:nvSpPr>
        <p:spPr>
          <a:xfrm>
            <a:off x="5623560" y="40233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Email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your.email@example.com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spital Teal">
  <a:themeElements>
    <a:clrScheme name="Hospital Teal">
      <a:dk1>
        <a:srgbClr val="0B2A33"/>
      </a:dk1>
      <a:lt1>
        <a:srgbClr val="FFFFFF"/>
      </a:lt1>
      <a:dk2>
        <a:srgbClr val="028090"/>
      </a:dk2>
      <a:lt2>
        <a:srgbClr val="E8F5F3"/>
      </a:lt2>
      <a:accent1>
        <a:srgbClr val="028090"/>
      </a:accent1>
      <a:accent2>
        <a:srgbClr val="02C39A"/>
      </a:accent2>
      <a:accent3>
        <a:srgbClr val="F96167"/>
      </a:accent3>
      <a:accent4>
        <a:srgbClr val="1C7293"/>
      </a:accent4>
      <a:accent5>
        <a:srgbClr val="F9B233"/>
      </a:accent5>
      <a:accent6>
        <a:srgbClr val="5B7B85"/>
      </a:accent6>
      <a:hlink>
        <a:srgbClr val="028090"/>
      </a:hlink>
      <a:folHlink>
        <a:srgbClr val="5B7B85"/>
      </a:folHlink>
    </a:clrScheme>
    <a:fontScheme name="Hospital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Database</dc:title>
  <dc:subject>PptxGenJS Presentation</dc:subject>
  <dc:creator>PptxGenJS</dc:creator>
  <cp:lastModifiedBy>PptxGenJS</cp:lastModifiedBy>
  <cp:revision>1</cp:revision>
  <dcterms:created xsi:type="dcterms:W3CDTF">2026-10-28T15:19:01Z</dcterms:created>
  <dcterms:modified xsi:type="dcterms:W3CDTF">2026-10-28T15:19:01Z</dcterms:modified>
</cp:coreProperties>
</file>